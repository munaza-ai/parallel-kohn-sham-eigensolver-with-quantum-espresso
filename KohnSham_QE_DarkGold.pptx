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C5B5F63-20D0-4EDC-9DB3-FEDA1A2C865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5525E-491F-43F5-BD3F-A3779EBBB1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2935C8-7285-4EBE-B768-F675B90DDF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2DEDD4-4555-43A0-9271-D5D034A9F7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858B82-008A-4AD2-BE7D-2ED7435FF0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A2DB0B-CD7F-4C20-B13E-7A82BA9761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9EE03D-9738-4C43-B4A4-314FA1D7F8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CB0770-4D63-44F7-B113-DC04ABAA4B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100584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182880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265176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0" y="347472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429768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286000" y="0"/>
            <a:ext cx="360" cy="514332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572000" y="0"/>
            <a:ext cx="360" cy="514332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858000" y="0"/>
            <a:ext cx="360" cy="514332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01240" y="1234440"/>
            <a:ext cx="7131960" cy="2514240"/>
          </a:xfrm>
          <a:prstGeom prst="rect">
            <a:avLst/>
          </a:prstGeom>
          <a:solidFill>
            <a:srgbClr val="0b1221">
              <a:alpha val="90000"/>
            </a:srgbClr>
          </a:solidFill>
          <a:ln w="12700">
            <a:solidFill>
              <a:srgbClr val="0f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02920" y="292680"/>
            <a:ext cx="2377080" cy="34704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02920" y="29268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c8ff"/>
                </a:solidFill>
                <a:latin typeface="Consolas"/>
                <a:ea typeface="Consolas"/>
              </a:rPr>
              <a:t>// HPC BENCHMARK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502920" y="1325880"/>
            <a:ext cx="6949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Kohn-Sham DFT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02920" y="2423160"/>
            <a:ext cx="6949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5a800"/>
                </a:solidFill>
                <a:latin typeface="Calibri"/>
                <a:ea typeface="Calibri"/>
              </a:rPr>
              <a:t>Parallel Scaling with Quantum ESPRESSO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02920" y="301752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a7a9a"/>
                </a:solidFill>
                <a:latin typeface="Calibri"/>
                <a:ea typeface="Calibri"/>
              </a:rPr>
              <a:t>Strong Scaling  ·  MPI Parallelism  ·  SCALAPACK  ·  Davidson Diagonalization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201240" y="4160520"/>
            <a:ext cx="8942400" cy="97812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200880" y="4160520"/>
            <a:ext cx="8943120" cy="360"/>
          </a:xfrm>
          <a:prstGeom prst="line">
            <a:avLst/>
          </a:prstGeom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48640" y="4224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800"/>
                </a:solidFill>
                <a:latin typeface="Calibri"/>
                <a:ea typeface="Calibri"/>
              </a:rPr>
              <a:t>512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548640" y="4626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9a"/>
                </a:solidFill>
                <a:latin typeface="Calibri"/>
                <a:ea typeface="Calibri"/>
              </a:rPr>
              <a:t>KS bands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2286000" y="4224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800"/>
                </a:solidFill>
                <a:latin typeface="Calibri"/>
                <a:ea typeface="Calibri"/>
              </a:rPr>
              <a:t>26,437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2286000" y="4626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9a"/>
                </a:solidFill>
                <a:latin typeface="Calibri"/>
                <a:ea typeface="Calibri"/>
              </a:rPr>
              <a:t>G-vectors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023360" y="4224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800"/>
                </a:solidFill>
                <a:latin typeface="Calibri"/>
                <a:ea typeface="Calibri"/>
              </a:rPr>
              <a:t>2–32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023360" y="4626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9a"/>
                </a:solidFill>
                <a:latin typeface="Calibri"/>
                <a:ea typeface="Calibri"/>
              </a:rPr>
              <a:t>Processors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5760720" y="4224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800"/>
                </a:solidFill>
                <a:latin typeface="Calibri"/>
                <a:ea typeface="Calibri"/>
              </a:rPr>
              <a:t>32.07 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5760720" y="4626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9a"/>
                </a:solidFill>
                <a:latin typeface="Calibri"/>
                <a:ea typeface="Calibri"/>
              </a:rPr>
              <a:t>Baseline (NP=2)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498080" y="422460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800"/>
                </a:solidFill>
                <a:latin typeface="Calibri"/>
                <a:ea typeface="Calibri"/>
              </a:rPr>
              <a:t>2.61×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7498080" y="4626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7a9a"/>
                </a:solidFill>
                <a:latin typeface="Calibri"/>
                <a:ea typeface="Calibri"/>
              </a:rPr>
              <a:t>Max speedup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3640" cy="80424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64160" cy="8042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20040" y="0"/>
            <a:ext cx="7497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The Kohn-Sham SCF Equations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c8ff"/>
                </a:solidFill>
                <a:latin typeface="Consolas"/>
                <a:ea typeface="Consolas"/>
              </a:rPr>
              <a:t>THEORY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0" y="804600"/>
            <a:ext cx="9144000" cy="360"/>
          </a:xfrm>
          <a:prstGeom prst="line">
            <a:avLst/>
          </a:prstGeom>
          <a:ln w="762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0" y="5074920"/>
            <a:ext cx="9144000" cy="360"/>
          </a:xfrm>
          <a:prstGeom prst="line">
            <a:avLst/>
          </a:prstGeom>
          <a:ln w="508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640080" y="960120"/>
            <a:ext cx="7863480" cy="1188360"/>
          </a:xfrm>
          <a:prstGeom prst="rect">
            <a:avLst/>
          </a:prstGeom>
          <a:solidFill>
            <a:srgbClr val="0f2a5e"/>
          </a:solidFill>
          <a:ln w="12700">
            <a:solidFill>
              <a:srgbClr val="f5a800"/>
            </a:solidFill>
            <a:round/>
          </a:ln>
          <a:effectLst>
            <a:outerShdw algn="bl" blurRad="127080" dir="8100000" dist="50402" kx="0" ky="0" rotWithShape="0" sx="100000" sy="100000">
              <a:srgbClr val="f5a8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640080" y="960120"/>
            <a:ext cx="7863480" cy="45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40080" y="960120"/>
            <a:ext cx="7863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a800"/>
                </a:solidFill>
                <a:latin typeface="Consolas"/>
                <a:ea typeface="Consolas"/>
              </a:rPr>
              <a:t>[ −½∇² + Veff(r) ] ψᵢ(r)  =  εᵢ ψᵢ(r)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640080" y="2212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a7a9a"/>
                </a:solidFill>
                <a:latin typeface="Calibri"/>
                <a:ea typeface="Calibri"/>
              </a:rPr>
              <a:t>N coupled single-particle Schrödinger-like equations solved self-consistently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255960" y="2633400"/>
            <a:ext cx="2815920" cy="2304000"/>
          </a:xfrm>
          <a:prstGeom prst="rect">
            <a:avLst/>
          </a:prstGeom>
          <a:solidFill>
            <a:srgbClr val="0e1829"/>
          </a:solidFill>
          <a:ln w="12700">
            <a:solidFill>
              <a:srgbClr val="f5a800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255960" y="2633400"/>
            <a:ext cx="2815920" cy="36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365760" y="2706480"/>
            <a:ext cx="259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5a800"/>
                </a:solidFill>
                <a:latin typeface="Consolas"/>
                <a:ea typeface="Consolas"/>
              </a:rPr>
              <a:t>EFFECTIVE POTENTIAL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365760" y="3063240"/>
            <a:ext cx="2596680" cy="438480"/>
          </a:xfrm>
          <a:prstGeom prst="rect">
            <a:avLst/>
          </a:prstGeom>
          <a:solidFill>
            <a:srgbClr val="05080f"/>
          </a:solidFill>
          <a:ln w="1270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365760" y="3063240"/>
            <a:ext cx="2596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dd878"/>
                </a:solidFill>
                <a:latin typeface="Consolas"/>
                <a:ea typeface="Consolas"/>
              </a:rPr>
              <a:t>Veff = Vext + VH[n] + Vxc[n]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365760" y="3566160"/>
            <a:ext cx="2596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4dce8"/>
                </a:solidFill>
                <a:latin typeface="Calibri"/>
                <a:ea typeface="Calibri"/>
              </a:rPr>
              <a:t>Reconstructed every SCF cycle from the current density n(r). Combines external, Hartree and XC contributions.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3200400" y="2633400"/>
            <a:ext cx="2815920" cy="2304000"/>
          </a:xfrm>
          <a:prstGeom prst="rect">
            <a:avLst/>
          </a:prstGeom>
          <a:solidFill>
            <a:srgbClr val="0e1829"/>
          </a:solidFill>
          <a:ln w="12700">
            <a:solidFill>
              <a:srgbClr val="00c8ff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3200400" y="2633400"/>
            <a:ext cx="281592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3310200" y="2706480"/>
            <a:ext cx="259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8ff"/>
                </a:solidFill>
                <a:latin typeface="Consolas"/>
                <a:ea typeface="Consolas"/>
              </a:rPr>
              <a:t>ELECTRON DENSITY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20"/>
          <p:cNvSpPr/>
          <p:nvPr/>
        </p:nvSpPr>
        <p:spPr>
          <a:xfrm>
            <a:off x="3310200" y="3063240"/>
            <a:ext cx="2596680" cy="438480"/>
          </a:xfrm>
          <a:prstGeom prst="rect">
            <a:avLst/>
          </a:prstGeom>
          <a:solidFill>
            <a:srgbClr val="05080f"/>
          </a:solidFill>
          <a:ln w="1270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3310200" y="3063240"/>
            <a:ext cx="2596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dd878"/>
                </a:solidFill>
                <a:latin typeface="Consolas"/>
                <a:ea typeface="Consolas"/>
              </a:rPr>
              <a:t>n(r) = Σᵢ fᵢ |ψᵢ(r)|²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3310200" y="3566160"/>
            <a:ext cx="2596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4dce8"/>
                </a:solidFill>
                <a:latin typeface="Calibri"/>
                <a:ea typeface="Calibri"/>
              </a:rPr>
              <a:t>Sum over occupied KS orbitals weighted by occupations fᵢ. The core observable — determines all ground-state properties.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6144840" y="2633400"/>
            <a:ext cx="2815920" cy="2304000"/>
          </a:xfrm>
          <a:prstGeom prst="rect">
            <a:avLst/>
          </a:prstGeom>
          <a:solidFill>
            <a:srgbClr val="0e1829"/>
          </a:solidFill>
          <a:ln w="12700">
            <a:solidFill>
              <a:srgbClr val="2563eb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6144840" y="2633400"/>
            <a:ext cx="2815920" cy="36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6254640" y="2706480"/>
            <a:ext cx="259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563eb"/>
                </a:solidFill>
                <a:latin typeface="Consolas"/>
                <a:ea typeface="Consolas"/>
              </a:rPr>
              <a:t>SCF CONVERGENCE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6254640" y="3063240"/>
            <a:ext cx="2596680" cy="438480"/>
          </a:xfrm>
          <a:prstGeom prst="rect">
            <a:avLst/>
          </a:prstGeom>
          <a:solidFill>
            <a:srgbClr val="05080f"/>
          </a:solidFill>
          <a:ln w="1270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6254640" y="3063240"/>
            <a:ext cx="2596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dd878"/>
                </a:solidFill>
                <a:latin typeface="Consolas"/>
                <a:ea typeface="Consolas"/>
              </a:rPr>
              <a:t>ΔE &lt; ε  →  converged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6254640" y="3566160"/>
            <a:ext cx="25966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4dce8"/>
                </a:solidFill>
                <a:latin typeface="Calibri"/>
                <a:ea typeface="Calibri"/>
              </a:rPr>
              <a:t>Iterate: guess n → build Veff → diagonalise H → update n → repeat. Convergence in energy, density, or forces.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9"/>
          <p:cNvSpPr/>
          <p:nvPr/>
        </p:nvSpPr>
        <p:spPr>
          <a:xfrm>
            <a:off x="0" y="4919400"/>
            <a:ext cx="9143640" cy="38376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274320" y="491940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0c8ff"/>
                </a:solidFill>
                <a:latin typeface="Consolas"/>
                <a:ea typeface="Consolas"/>
              </a:rPr>
              <a:t>Computational cost: O(N³) — diagonalisation bottleneck motivates SCALAPACK for large parallel runs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3640" cy="80424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0" y="0"/>
            <a:ext cx="164160" cy="8042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320040" y="0"/>
            <a:ext cx="7497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Weak Scaling SCALAPACK 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c8ff"/>
                </a:solidFill>
                <a:latin typeface="Consolas"/>
                <a:ea typeface="Consolas"/>
              </a:rPr>
              <a:t>RESULTS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0" y="804600"/>
            <a:ext cx="9144000" cy="360"/>
          </a:xfrm>
          <a:prstGeom prst="line">
            <a:avLst/>
          </a:prstGeom>
          <a:ln w="762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0" y="5074920"/>
            <a:ext cx="9144000" cy="360"/>
          </a:xfrm>
          <a:prstGeom prst="line">
            <a:avLst/>
          </a:prstGeom>
          <a:ln w="508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60" y="914400"/>
            <a:ext cx="8686440" cy="4023000"/>
          </a:xfrm>
          <a:prstGeom prst="rect">
            <a:avLst/>
          </a:prstGeom>
          <a:solidFill>
            <a:srgbClr val="0e1829"/>
          </a:solidFill>
          <a:ln w="12700">
            <a:solidFill>
              <a:srgbClr val="7a5200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0" y="5010840"/>
            <a:ext cx="9143640" cy="38376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274320" y="5010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122400" y="1107720"/>
            <a:ext cx="8793000" cy="300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80424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0" y="0"/>
            <a:ext cx="164160" cy="8042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320040" y="0"/>
            <a:ext cx="7497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NO 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c8ff"/>
                </a:solidFill>
                <a:latin typeface="Consolas"/>
                <a:ea typeface="Consolas"/>
              </a:rPr>
              <a:t>RESULTS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0" y="804600"/>
            <a:ext cx="9144000" cy="360"/>
          </a:xfrm>
          <a:prstGeom prst="line">
            <a:avLst/>
          </a:prstGeom>
          <a:ln w="762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0" y="5074920"/>
            <a:ext cx="9144000" cy="360"/>
          </a:xfrm>
          <a:prstGeom prst="line">
            <a:avLst/>
          </a:prstGeom>
          <a:ln w="508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228600" y="960120"/>
            <a:ext cx="8686440" cy="4023000"/>
          </a:xfrm>
          <a:prstGeom prst="rect">
            <a:avLst/>
          </a:prstGeom>
          <a:solidFill>
            <a:srgbClr val="0e1829"/>
          </a:solidFill>
          <a:ln w="12700">
            <a:solidFill>
              <a:srgbClr val="7a5200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0" y="5010840"/>
            <a:ext cx="9143640" cy="38376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274320" y="5010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5a800"/>
                </a:solidFill>
                <a:latin typeface="Consolas"/>
                <a:ea typeface="Consolas"/>
              </a:rPr>
              <a:t>SCALAPACK: 1.97× @ NP=16   ·   2.05× @ NP=32   ·   Maintains 33% efficiency vs 16% standard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0" y="1000800"/>
            <a:ext cx="9143640" cy="312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21"/>
          <p:cNvSpPr/>
          <p:nvPr/>
        </p:nvSpPr>
        <p:spPr>
          <a:xfrm>
            <a:off x="0" y="0"/>
            <a:ext cx="9143640" cy="80424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0" y="0"/>
            <a:ext cx="164160" cy="8042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9"/>
          <p:cNvSpPr/>
          <p:nvPr/>
        </p:nvSpPr>
        <p:spPr>
          <a:xfrm>
            <a:off x="320040" y="0"/>
            <a:ext cx="7497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SCALAPACK vs Standard </a:t>
            </a: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Diagonalization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28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1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c8ff"/>
                </a:solidFill>
                <a:latin typeface="Consolas"/>
                <a:ea typeface="Consolas"/>
              </a:rPr>
              <a:t>RESULTS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32"/>
          <p:cNvSpPr/>
          <p:nvPr/>
        </p:nvSpPr>
        <p:spPr>
          <a:xfrm>
            <a:off x="0" y="804600"/>
            <a:ext cx="9144000" cy="360"/>
          </a:xfrm>
          <a:prstGeom prst="line">
            <a:avLst/>
          </a:prstGeom>
          <a:ln w="762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33"/>
          <p:cNvSpPr/>
          <p:nvPr/>
        </p:nvSpPr>
        <p:spPr>
          <a:xfrm>
            <a:off x="0" y="5074920"/>
            <a:ext cx="9144000" cy="360"/>
          </a:xfrm>
          <a:prstGeom prst="line">
            <a:avLst/>
          </a:prstGeom>
          <a:ln w="508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35"/>
          <p:cNvSpPr/>
          <p:nvPr/>
        </p:nvSpPr>
        <p:spPr>
          <a:xfrm>
            <a:off x="228600" y="960120"/>
            <a:ext cx="8686440" cy="4023000"/>
          </a:xfrm>
          <a:prstGeom prst="rect">
            <a:avLst/>
          </a:prstGeom>
          <a:solidFill>
            <a:srgbClr val="0e1829"/>
          </a:solidFill>
          <a:ln w="12700">
            <a:solidFill>
              <a:srgbClr val="7a5200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45"/>
          <p:cNvSpPr/>
          <p:nvPr/>
        </p:nvSpPr>
        <p:spPr>
          <a:xfrm>
            <a:off x="0" y="5010840"/>
            <a:ext cx="9143640" cy="38376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3"/>
          <p:cNvSpPr/>
          <p:nvPr/>
        </p:nvSpPr>
        <p:spPr>
          <a:xfrm>
            <a:off x="274320" y="5010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5a800"/>
                </a:solidFill>
                <a:latin typeface="Consolas"/>
                <a:ea typeface="Consolas"/>
              </a:rPr>
              <a:t>SCALAPACK: 1.97× @ NP=16   ·   2.05× @ NP=32   ·   Maintains 33% efficiency vs 16% </a:t>
            </a:r>
            <a:r>
              <a:rPr b="0" lang="en-US" sz="1150" spc="-1" strike="noStrike">
                <a:solidFill>
                  <a:srgbClr val="f5a800"/>
                </a:solidFill>
                <a:latin typeface="Consolas"/>
                <a:ea typeface="Consolas"/>
              </a:rPr>
              <a:t>standard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0" y="918360"/>
            <a:ext cx="9143640" cy="329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30"/>
          <p:cNvSpPr/>
          <p:nvPr/>
        </p:nvSpPr>
        <p:spPr>
          <a:xfrm>
            <a:off x="0" y="0"/>
            <a:ext cx="9143640" cy="80424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31"/>
          <p:cNvSpPr/>
          <p:nvPr/>
        </p:nvSpPr>
        <p:spPr>
          <a:xfrm>
            <a:off x="0" y="0"/>
            <a:ext cx="164160" cy="80424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320040" y="0"/>
            <a:ext cx="74977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Exercise 4 (pools plot)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34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solidFill>
            <a:srgbClr val="0f2a5e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7909560" y="164520"/>
            <a:ext cx="107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c8ff"/>
                </a:solidFill>
                <a:latin typeface="Consolas"/>
                <a:ea typeface="Consolas"/>
              </a:rPr>
              <a:t>RESULTS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36"/>
          <p:cNvSpPr/>
          <p:nvPr/>
        </p:nvSpPr>
        <p:spPr>
          <a:xfrm>
            <a:off x="0" y="804600"/>
            <a:ext cx="9144000" cy="360"/>
          </a:xfrm>
          <a:prstGeom prst="line">
            <a:avLst/>
          </a:prstGeom>
          <a:ln w="762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7"/>
          <p:cNvSpPr/>
          <p:nvPr/>
        </p:nvSpPr>
        <p:spPr>
          <a:xfrm>
            <a:off x="0" y="5074920"/>
            <a:ext cx="9144000" cy="360"/>
          </a:xfrm>
          <a:prstGeom prst="line">
            <a:avLst/>
          </a:prstGeom>
          <a:ln w="508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39"/>
          <p:cNvSpPr/>
          <p:nvPr/>
        </p:nvSpPr>
        <p:spPr>
          <a:xfrm>
            <a:off x="0" y="5010840"/>
            <a:ext cx="9143640" cy="383760"/>
          </a:xfrm>
          <a:prstGeom prst="rect">
            <a:avLst/>
          </a:prstGeom>
          <a:solidFill>
            <a:srgbClr val="0b1221"/>
          </a:solidFill>
          <a:ln w="12700">
            <a:solidFill>
              <a:srgbClr val="0b12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274320" y="501084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360" y="1671480"/>
            <a:ext cx="9143640" cy="312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128016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256032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0" y="3840480"/>
            <a:ext cx="914400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2286000" y="0"/>
            <a:ext cx="360" cy="514332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4572000" y="0"/>
            <a:ext cx="360" cy="514332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6858000" y="0"/>
            <a:ext cx="360" cy="514332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201240" y="1097280"/>
            <a:ext cx="6857640" cy="2148480"/>
          </a:xfrm>
          <a:prstGeom prst="rect">
            <a:avLst/>
          </a:prstGeom>
          <a:solidFill>
            <a:srgbClr val="0b1221">
              <a:alpha val="90000"/>
            </a:srgbClr>
          </a:solidFill>
          <a:ln w="12700">
            <a:solidFill>
              <a:srgbClr val="0f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02920" y="1143000"/>
            <a:ext cx="64004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  <a:endParaRPr b="0" lang="en-US" sz="5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502920" y="2304360"/>
            <a:ext cx="6400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5a800"/>
                </a:solidFill>
                <a:latin typeface="Calibri"/>
                <a:ea typeface="Calibri"/>
              </a:rPr>
              <a:t>Kohn-Sham DFT  ·  Quantum ESPRESSO  ·  HPC Parallelization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502920" y="3090600"/>
            <a:ext cx="1919880" cy="1416960"/>
          </a:xfrm>
          <a:prstGeom prst="rect">
            <a:avLst/>
          </a:prstGeom>
          <a:solidFill>
            <a:srgbClr val="0e1829"/>
          </a:solidFill>
          <a:ln w="12700">
            <a:solidFill>
              <a:srgbClr val="f5a800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502920" y="3090600"/>
            <a:ext cx="1919880" cy="36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502920" y="320040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a800"/>
                </a:solidFill>
                <a:latin typeface="Calibri"/>
                <a:ea typeface="Calibri"/>
              </a:rPr>
              <a:t>2.61×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502920" y="3913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9a"/>
                </a:solidFill>
                <a:latin typeface="Calibri"/>
                <a:ea typeface="Calibri"/>
              </a:rPr>
              <a:t>Max Speedup (Std.)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2560320" y="3090600"/>
            <a:ext cx="1919880" cy="1416960"/>
          </a:xfrm>
          <a:prstGeom prst="rect">
            <a:avLst/>
          </a:prstGeom>
          <a:solidFill>
            <a:srgbClr val="0e1829"/>
          </a:solidFill>
          <a:ln w="12700">
            <a:solidFill>
              <a:srgbClr val="00c8ff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2560320" y="3090600"/>
            <a:ext cx="191988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2560320" y="320040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8ff"/>
                </a:solidFill>
                <a:latin typeface="Calibri"/>
                <a:ea typeface="Calibri"/>
              </a:rPr>
              <a:t>5.34×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2560320" y="3913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9a"/>
                </a:solidFill>
                <a:latin typeface="Calibri"/>
                <a:ea typeface="Calibri"/>
              </a:rPr>
              <a:t>SCALAPACK NP=32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4617720" y="3090600"/>
            <a:ext cx="1919880" cy="1416960"/>
          </a:xfrm>
          <a:prstGeom prst="rect">
            <a:avLst/>
          </a:prstGeom>
          <a:solidFill>
            <a:srgbClr val="0e1829"/>
          </a:solidFill>
          <a:ln w="12700">
            <a:solidFill>
              <a:srgbClr val="f5a800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4617720" y="3090600"/>
            <a:ext cx="1919880" cy="36360"/>
          </a:xfrm>
          <a:prstGeom prst="rect">
            <a:avLst/>
          </a:prstGeom>
          <a:solidFill>
            <a:srgbClr val="f5a800"/>
          </a:solidFill>
          <a:ln w="12700">
            <a:solidFill>
              <a:srgbClr val="f5a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4617720" y="320040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a800"/>
                </a:solidFill>
                <a:latin typeface="Calibri"/>
                <a:ea typeface="Calibri"/>
              </a:rPr>
              <a:t>94.8%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4617720" y="3913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9a"/>
                </a:solidFill>
                <a:latin typeface="Calibri"/>
                <a:ea typeface="Calibri"/>
              </a:rPr>
              <a:t>Davidson Fraction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2"/>
          <p:cNvSpPr/>
          <p:nvPr/>
        </p:nvSpPr>
        <p:spPr>
          <a:xfrm>
            <a:off x="6675120" y="3090600"/>
            <a:ext cx="1919880" cy="1416960"/>
          </a:xfrm>
          <a:prstGeom prst="rect">
            <a:avLst/>
          </a:prstGeom>
          <a:solidFill>
            <a:srgbClr val="0e1829"/>
          </a:solidFill>
          <a:ln w="12700">
            <a:solidFill>
              <a:srgbClr val="00c8ff"/>
            </a:solidFill>
            <a:round/>
          </a:ln>
          <a:effectLst>
            <a:outerShdw algn="bl" blurRad="152280" dir="8100000" dist="50402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3"/>
          <p:cNvSpPr/>
          <p:nvPr/>
        </p:nvSpPr>
        <p:spPr>
          <a:xfrm>
            <a:off x="6675120" y="3090600"/>
            <a:ext cx="1919880" cy="36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6675120" y="320040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8ff"/>
                </a:solidFill>
                <a:latin typeface="Calibri"/>
                <a:ea typeface="Calibri"/>
              </a:rPr>
              <a:t>NP=16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5"/>
          <p:cNvSpPr/>
          <p:nvPr/>
        </p:nvSpPr>
        <p:spPr>
          <a:xfrm>
            <a:off x="6675120" y="391356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9a"/>
                </a:solidFill>
                <a:latin typeface="Calibri"/>
                <a:ea typeface="Calibri"/>
              </a:rPr>
              <a:t>Optimal Processors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26"/>
          <p:cNvSpPr/>
          <p:nvPr/>
        </p:nvSpPr>
        <p:spPr>
          <a:xfrm>
            <a:off x="502920" y="4736520"/>
            <a:ext cx="8138160" cy="360"/>
          </a:xfrm>
          <a:prstGeom prst="line">
            <a:avLst/>
          </a:prstGeom>
          <a:ln w="6350">
            <a:solidFill>
              <a:srgbClr val="1a2d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502920" y="4773240"/>
            <a:ext cx="813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7a9a"/>
                </a:solidFill>
                <a:latin typeface="Consolas"/>
                <a:ea typeface="Consolas"/>
              </a:rPr>
              <a:t>https://www.quantum-espresso.org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LibreOffice/24.2.4.2$Linux_X86_64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2026-03-13T12:13:14Z</dcterms:created>
  <dc:creator>PptxGenJS</dc:creator>
  <dc:description/>
  <dc:language>en-US</dc:language>
  <cp:lastModifiedBy/>
  <dcterms:modified xsi:type="dcterms:W3CDTF">2026-03-13T15:21:55Z</dcterms:modified>
  <cp:revision>2</cp:revision>
  <dc:subject>PptxGenJS Presentation</dc:subject>
  <dc:title>Kohn-Sham DFT Scaling — Quantum ESPRESSO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